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zaproxy.org/download/" TargetMode="External"/><Relationship Id="rId3" Type="http://schemas.openxmlformats.org/officeDocument/2006/relationships/hyperlink" Target="https://github.com/digininja/DVWA.git" TargetMode="External"/><Relationship Id="rId4" Type="http://schemas.openxmlformats.org/officeDocument/2006/relationships/hyperlink" Target="http://localhost:4280/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png"/><Relationship Id="rId13" Type="http://schemas.openxmlformats.org/officeDocument/2006/relationships/image" Target="../media/image1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4280/" TargetMode="External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92556"/>
            <a:ext cx="43688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Week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6: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Web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Security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&amp;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Vulnerability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Testing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(VAPT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Basics)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704" y="1586737"/>
            <a:ext cx="2080895" cy="21653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0"/>
              </a:lnSpc>
            </a:pPr>
            <a:r>
              <a:rPr dirty="0" sz="1400" spc="-20" b="1">
                <a:latin typeface="Calibri"/>
                <a:cs typeface="Calibri"/>
              </a:rPr>
              <a:t>Task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1: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Study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OWASP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Top</a:t>
            </a:r>
            <a:r>
              <a:rPr dirty="0" sz="1400" spc="-25" b="1">
                <a:latin typeface="Calibri"/>
                <a:cs typeface="Calibri"/>
              </a:rPr>
              <a:t> 10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1907793"/>
            <a:ext cx="5513705" cy="642302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39395" marR="263525" indent="-227329">
              <a:lnSpc>
                <a:spcPts val="1580"/>
              </a:lnSpc>
              <a:spcBef>
                <a:spcPts val="180"/>
              </a:spcBef>
              <a:buSzPct val="116666"/>
              <a:buAutoNum type="arabicPeriod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Broken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Maintaining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position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#1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40">
                <a:latin typeface="Calibri"/>
                <a:cs typeface="Calibri"/>
              </a:rPr>
              <a:t>Top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Ten,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100%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applications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tested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broken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control.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AutoNum type="arabicPeriod"/>
            </a:pPr>
            <a:endParaRPr sz="1200">
              <a:latin typeface="Calibri"/>
              <a:cs typeface="Calibri"/>
            </a:endParaRPr>
          </a:p>
          <a:p>
            <a:pPr marL="239395" marR="147320" indent="-227329">
              <a:lnSpc>
                <a:spcPct val="106200"/>
              </a:lnSpc>
              <a:buSzPct val="116666"/>
              <a:buAutoNum type="arabicPeriod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Misconfiguration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#5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previous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edition,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100%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applications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tested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found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misconfiguration,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</a:t>
            </a:r>
            <a:endParaRPr sz="1200">
              <a:latin typeface="Calibri"/>
              <a:cs typeface="Calibri"/>
            </a:endParaRPr>
          </a:p>
          <a:p>
            <a:pPr marL="240665" marR="42545">
              <a:lnSpc>
                <a:spcPts val="1580"/>
              </a:lnSpc>
              <a:spcBef>
                <a:spcPts val="70"/>
              </a:spcBef>
            </a:pPr>
            <a:r>
              <a:rPr dirty="0" sz="1200" spc="-10">
                <a:latin typeface="Calibri"/>
                <a:cs typeface="Calibri"/>
              </a:rPr>
              <a:t>average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incidence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3.00%,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719k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occurrences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Weakness Enumeration </a:t>
            </a:r>
            <a:r>
              <a:rPr dirty="0" sz="1200">
                <a:latin typeface="Calibri"/>
                <a:cs typeface="Calibri"/>
              </a:rPr>
              <a:t>(CWE)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risk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category.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>
              <a:latin typeface="Calibri"/>
              <a:cs typeface="Calibri"/>
            </a:endParaRPr>
          </a:p>
          <a:p>
            <a:pPr marL="240665" marR="5080" indent="-228600">
              <a:lnSpc>
                <a:spcPct val="109200"/>
              </a:lnSpc>
              <a:spcBef>
                <a:spcPts val="5"/>
              </a:spcBef>
              <a:buAutoNum type="arabicPeriod" startAt="3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Software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Supply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Failures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top-ranked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35">
                <a:latin typeface="Calibri"/>
                <a:cs typeface="Calibri"/>
              </a:rPr>
              <a:t>Top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community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survey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exactly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50%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respondents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ranking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#1.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AutoNum type="arabicPeriod" startAt="3"/>
            </a:pPr>
            <a:endParaRPr sz="1200">
              <a:latin typeface="Calibri"/>
              <a:cs typeface="Calibri"/>
            </a:endParaRPr>
          </a:p>
          <a:p>
            <a:pPr marL="239395" marR="320675" indent="-227329">
              <a:lnSpc>
                <a:spcPct val="105500"/>
              </a:lnSpc>
              <a:buSzPct val="116666"/>
              <a:buAutoNum type="arabicPeriod" startAt="3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Cryptographic</a:t>
            </a:r>
            <a:r>
              <a:rPr dirty="0" sz="1200" spc="-10">
                <a:latin typeface="Calibri"/>
                <a:cs typeface="Calibri"/>
              </a:rPr>
              <a:t> Failures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Sensitive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</a:t>
            </a:r>
            <a:r>
              <a:rPr dirty="0" sz="1200">
                <a:latin typeface="Calibri"/>
                <a:cs typeface="Calibri"/>
              </a:rPr>
              <a:t> is</a:t>
            </a:r>
            <a:r>
              <a:rPr dirty="0" sz="1200" spc="-10">
                <a:latin typeface="Calibri"/>
                <a:cs typeface="Calibri"/>
              </a:rPr>
              <a:t> inadequately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protected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through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encryption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cryptographic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controls.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AutoNum type="arabicPeriod" startAt="3"/>
            </a:pPr>
            <a:endParaRPr sz="1200">
              <a:latin typeface="Calibri"/>
              <a:cs typeface="Calibri"/>
            </a:endParaRPr>
          </a:p>
          <a:p>
            <a:pPr marL="240665" marR="590550" indent="-228600">
              <a:lnSpc>
                <a:spcPct val="110000"/>
              </a:lnSpc>
              <a:buAutoNum type="arabicPeriod" startAt="3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Injection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Untrusted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interpreted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commands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queries,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SQL </a:t>
            </a:r>
            <a:r>
              <a:rPr dirty="0" sz="1200" spc="-10">
                <a:latin typeface="Calibri"/>
                <a:cs typeface="Calibri"/>
              </a:rPr>
              <a:t>Injection.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AutoNum type="arabicPeriod" startAt="3"/>
            </a:pPr>
            <a:endParaRPr sz="1200">
              <a:latin typeface="Calibri"/>
              <a:cs typeface="Calibri"/>
            </a:endParaRPr>
          </a:p>
          <a:p>
            <a:pPr marL="240665" marR="375920" indent="-228600">
              <a:lnSpc>
                <a:spcPct val="110100"/>
              </a:lnSpc>
              <a:buAutoNum type="arabicPeriod" startAt="3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Insecure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weaknesses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arise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missing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ineffective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security controls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application's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design.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AutoNum type="arabicPeriod" startAt="3"/>
            </a:pPr>
            <a:endParaRPr sz="1200">
              <a:latin typeface="Calibri"/>
              <a:cs typeface="Calibri"/>
            </a:endParaRPr>
          </a:p>
          <a:p>
            <a:pPr marL="240665" marR="492125" indent="-228600">
              <a:lnSpc>
                <a:spcPct val="110000"/>
              </a:lnSpc>
              <a:buAutoNum type="arabicPeriod" startAt="3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Authentication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Failures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Weak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identity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verification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session </a:t>
            </a:r>
            <a:r>
              <a:rPr dirty="0" sz="1200">
                <a:latin typeface="Calibri"/>
                <a:cs typeface="Calibri"/>
              </a:rPr>
              <a:t>handling </a:t>
            </a:r>
            <a:r>
              <a:rPr dirty="0" sz="1200" spc="-10">
                <a:latin typeface="Calibri"/>
                <a:cs typeface="Calibri"/>
              </a:rPr>
              <a:t>allows </a:t>
            </a:r>
            <a:r>
              <a:rPr dirty="0" sz="1200">
                <a:latin typeface="Calibri"/>
                <a:cs typeface="Calibri"/>
              </a:rPr>
              <a:t>unauthorized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access.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AutoNum type="arabicPeriod" startAt="3"/>
            </a:pPr>
            <a:endParaRPr sz="1200">
              <a:latin typeface="Calibri"/>
              <a:cs typeface="Calibri"/>
            </a:endParaRPr>
          </a:p>
          <a:p>
            <a:pPr marL="240665" marR="592455" indent="-228600">
              <a:lnSpc>
                <a:spcPct val="110000"/>
              </a:lnSpc>
              <a:buAutoNum type="arabicPeriod" startAt="3"/>
              <a:tabLst>
                <a:tab pos="240665" algn="l"/>
              </a:tabLst>
            </a:pPr>
            <a:r>
              <a:rPr dirty="0" sz="1200" spc="-10">
                <a:latin typeface="Calibri"/>
                <a:cs typeface="Calibri"/>
              </a:rPr>
              <a:t>Software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Integrity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Failures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Software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updates,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not </a:t>
            </a:r>
            <a:r>
              <a:rPr dirty="0" sz="1200">
                <a:latin typeface="Calibri"/>
                <a:cs typeface="Calibri"/>
              </a:rPr>
              <a:t>adequately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verified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integrity.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AutoNum type="arabicPeriod" startAt="3"/>
            </a:pPr>
            <a:endParaRPr sz="1200">
              <a:latin typeface="Calibri"/>
              <a:cs typeface="Calibri"/>
            </a:endParaRPr>
          </a:p>
          <a:p>
            <a:pPr marL="240665" marR="228600" indent="-228600">
              <a:lnSpc>
                <a:spcPct val="109200"/>
              </a:lnSpc>
              <a:buAutoNum type="arabicPeriod" startAt="3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Logging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Alerting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Failures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properly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recorded, monitored,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alerted </a:t>
            </a:r>
            <a:r>
              <a:rPr dirty="0" sz="1200" spc="-25">
                <a:latin typeface="Calibri"/>
                <a:cs typeface="Calibri"/>
              </a:rPr>
              <a:t>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AutoNum type="arabicPeriod" startAt="3"/>
            </a:pPr>
            <a:endParaRPr sz="1200">
              <a:latin typeface="Calibri"/>
              <a:cs typeface="Calibri"/>
            </a:endParaRPr>
          </a:p>
          <a:p>
            <a:pPr marL="240665" marR="143510" indent="-228600">
              <a:lnSpc>
                <a:spcPct val="105500"/>
              </a:lnSpc>
              <a:buSzPct val="116666"/>
              <a:buAutoNum type="arabicPeriod" startAt="3"/>
              <a:tabLst>
                <a:tab pos="240665" algn="l"/>
                <a:tab pos="274955" algn="l"/>
              </a:tabLst>
            </a:pPr>
            <a:r>
              <a:rPr dirty="0" sz="1200">
                <a:latin typeface="Calibri"/>
                <a:cs typeface="Calibri"/>
              </a:rPr>
              <a:t>	Mishandling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Exceptional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Conditions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Errors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unusual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conditions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handled insecurely,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potentially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vulnerabilities.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9533"/>
            <a:ext cx="5610225" cy="88633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111760" indent="187325">
              <a:lnSpc>
                <a:spcPct val="109900"/>
              </a:lnSpc>
              <a:spcBef>
                <a:spcPts val="130"/>
              </a:spcBef>
              <a:buFont typeface="Calibri"/>
              <a:buAutoNum type="alphaUcPeriod"/>
              <a:tabLst>
                <a:tab pos="200025" algn="l"/>
              </a:tabLst>
            </a:pPr>
            <a:r>
              <a:rPr dirty="0" sz="1400" b="1">
                <a:latin typeface="Calibri"/>
                <a:cs typeface="Calibri"/>
              </a:rPr>
              <a:t>SQL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Injection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(SQLi)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-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Injection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occurs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input unsafely,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alter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queries.</a:t>
            </a:r>
            <a:endParaRPr sz="1200">
              <a:latin typeface="Calibri"/>
              <a:cs typeface="Calibri"/>
            </a:endParaRPr>
          </a:p>
          <a:p>
            <a:pPr marL="12700" marR="6985">
              <a:lnSpc>
                <a:spcPts val="1580"/>
              </a:lnSpc>
              <a:spcBef>
                <a:spcPts val="65"/>
              </a:spcBef>
            </a:pPr>
            <a:r>
              <a:rPr dirty="0" sz="1200" b="1">
                <a:latin typeface="Calibri"/>
                <a:cs typeface="Calibri"/>
              </a:rPr>
              <a:t>Example: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vulnerable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specially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crafted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logic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query.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400" spc="-10" b="1">
                <a:latin typeface="Calibri"/>
                <a:cs typeface="Calibri"/>
              </a:rPr>
              <a:t>Impact:</a:t>
            </a:r>
            <a:endParaRPr sz="14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69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Unauthorized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-10">
                <a:latin typeface="Calibri"/>
                <a:cs typeface="Calibri"/>
              </a:rPr>
              <a:t> access.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44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Exposure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sensitive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4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Modification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deletion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records.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3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Potential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authentication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bypass.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 spc="-10" b="1">
                <a:latin typeface="Calibri"/>
                <a:cs typeface="Calibri"/>
              </a:rPr>
              <a:t>Prevention:</a:t>
            </a:r>
            <a:endParaRPr sz="14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69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parameterized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queries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prepared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statements.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Validate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appropriately.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3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Apply </a:t>
            </a:r>
            <a:r>
              <a:rPr dirty="0" sz="1200" spc="-20">
                <a:latin typeface="Calibri"/>
                <a:cs typeface="Calibri"/>
              </a:rPr>
              <a:t>least-</a:t>
            </a:r>
            <a:r>
              <a:rPr dirty="0" sz="1200">
                <a:latin typeface="Calibri"/>
                <a:cs typeface="Calibri"/>
              </a:rPr>
              <a:t>privilege</a:t>
            </a:r>
            <a:r>
              <a:rPr dirty="0" sz="1200" spc="-10">
                <a:latin typeface="Calibri"/>
                <a:cs typeface="Calibri"/>
              </a:rPr>
              <a:t> database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permissions.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3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Avoid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exposing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detailed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errors.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95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 marR="49530" indent="185420">
              <a:lnSpc>
                <a:spcPct val="109800"/>
              </a:lnSpc>
              <a:spcBef>
                <a:spcPts val="5"/>
              </a:spcBef>
              <a:buAutoNum type="alphaUcPeriod" startAt="2"/>
              <a:tabLst>
                <a:tab pos="198120" algn="l"/>
              </a:tabLst>
            </a:pPr>
            <a:r>
              <a:rPr dirty="0" sz="1400" spc="-10" b="1">
                <a:latin typeface="Calibri"/>
                <a:cs typeface="Calibri"/>
              </a:rPr>
              <a:t>Cross-</a:t>
            </a:r>
            <a:r>
              <a:rPr dirty="0" sz="1400" b="1">
                <a:latin typeface="Calibri"/>
                <a:cs typeface="Calibri"/>
              </a:rPr>
              <a:t>Site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Scripting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(XSS)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-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XSS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occurs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website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allows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untrusted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 spc="-10">
                <a:latin typeface="Calibri"/>
                <a:cs typeface="Calibri"/>
              </a:rPr>
              <a:t>execute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user's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browser.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400" spc="-10" b="1">
                <a:latin typeface="Calibri"/>
                <a:cs typeface="Calibri"/>
              </a:rPr>
              <a:t>Types:</a:t>
            </a:r>
            <a:endParaRPr sz="14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969"/>
              </a:spcBef>
              <a:buSzPct val="85714"/>
              <a:buFont typeface="Calibri"/>
              <a:buAutoNum type="arabicPeriod"/>
              <a:tabLst>
                <a:tab pos="470534" algn="l"/>
              </a:tabLst>
            </a:pPr>
            <a:r>
              <a:rPr dirty="0" sz="1400" b="1">
                <a:latin typeface="Calibri"/>
                <a:cs typeface="Calibri"/>
              </a:rPr>
              <a:t>Stored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XSS:</a:t>
            </a:r>
            <a:r>
              <a:rPr dirty="0" sz="1400" spc="-1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Malicious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stored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displayed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users.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960"/>
              </a:spcBef>
              <a:buSzPct val="85714"/>
              <a:buFont typeface="Calibri"/>
              <a:buAutoNum type="arabicPeriod"/>
              <a:tabLst>
                <a:tab pos="470534" algn="l"/>
              </a:tabLst>
            </a:pPr>
            <a:r>
              <a:rPr dirty="0" sz="1400" spc="-10" b="1">
                <a:latin typeface="Calibri"/>
                <a:cs typeface="Calibri"/>
              </a:rPr>
              <a:t>Reflected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XSS: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Malicious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immediate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response.</a:t>
            </a:r>
            <a:endParaRPr sz="12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0"/>
              </a:spcBef>
              <a:buFont typeface="Calibri"/>
              <a:buAutoNum type="arabicPeriod"/>
              <a:tabLst>
                <a:tab pos="468630" algn="l"/>
              </a:tabLst>
            </a:pPr>
            <a:r>
              <a:rPr dirty="0" sz="1400" spc="-10" b="1">
                <a:latin typeface="Calibri"/>
                <a:cs typeface="Calibri"/>
              </a:rPr>
              <a:t>DOM-</a:t>
            </a:r>
            <a:r>
              <a:rPr dirty="0" sz="1400" b="1">
                <a:latin typeface="Calibri"/>
                <a:cs typeface="Calibri"/>
              </a:rPr>
              <a:t>based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XSS: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Unsafe</a:t>
            </a:r>
            <a:r>
              <a:rPr dirty="0" sz="1200" spc="-10">
                <a:latin typeface="Calibri"/>
                <a:cs typeface="Calibri"/>
              </a:rPr>
              <a:t> client-</a:t>
            </a:r>
            <a:r>
              <a:rPr dirty="0" sz="1200">
                <a:latin typeface="Calibri"/>
                <a:cs typeface="Calibri"/>
              </a:rPr>
              <a:t>side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processes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untrusted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 spc="-10" b="1">
                <a:latin typeface="Calibri"/>
                <a:cs typeface="Calibri"/>
              </a:rPr>
              <a:t>Impact:</a:t>
            </a:r>
            <a:endParaRPr sz="14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69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Manipulation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content.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3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Phishing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attacks.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Unauthorized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actions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user's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browser.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4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Exposure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 accessible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malicious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scripts.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 spc="-10" b="1">
                <a:latin typeface="Calibri"/>
                <a:cs typeface="Calibri"/>
              </a:rPr>
              <a:t>Prevention:</a:t>
            </a:r>
            <a:endParaRPr sz="14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6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context-</a:t>
            </a:r>
            <a:r>
              <a:rPr dirty="0" sz="1200" spc="-10">
                <a:latin typeface="Calibri"/>
                <a:cs typeface="Calibri"/>
              </a:rPr>
              <a:t>aware</a:t>
            </a:r>
            <a:r>
              <a:rPr dirty="0" sz="1200">
                <a:latin typeface="Calibri"/>
                <a:cs typeface="Calibri"/>
              </a:rPr>
              <a:t> output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encoding.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3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safe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DOM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manipulation.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Validate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input.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79"/>
            <a:ext cx="5649595" cy="8505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10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suitable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Content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Policy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(CSP).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9000"/>
              </a:lnSpc>
            </a:pPr>
            <a:r>
              <a:rPr dirty="0" sz="1400" b="1">
                <a:latin typeface="Calibri"/>
                <a:cs typeface="Calibri"/>
              </a:rPr>
              <a:t>C.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Broken</a:t>
            </a:r>
            <a:r>
              <a:rPr dirty="0" sz="1400" spc="-10" b="1">
                <a:latin typeface="Calibri"/>
                <a:cs typeface="Calibri"/>
              </a:rPr>
              <a:t> Authentication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-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Authentication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failures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occur when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>
                <a:latin typeface="Calibri"/>
                <a:cs typeface="Calibri"/>
              </a:rPr>
              <a:t> does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not </a:t>
            </a:r>
            <a:r>
              <a:rPr dirty="0" sz="1200">
                <a:latin typeface="Calibri"/>
                <a:cs typeface="Calibri"/>
              </a:rPr>
              <a:t>adequately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verify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identities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securely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authenticated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sessions.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 spc="-10" b="1">
                <a:latin typeface="Calibri"/>
                <a:cs typeface="Calibri"/>
              </a:rPr>
              <a:t>Examples: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9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Weak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password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policies.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Unlimited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attempts.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400" spc="-10" b="1">
                <a:latin typeface="Calibri"/>
                <a:cs typeface="Calibri"/>
              </a:rPr>
              <a:t>Impact: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9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Unauthorized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access.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5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Exposure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confidential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information.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400" spc="-10" b="1">
                <a:latin typeface="Calibri"/>
                <a:cs typeface="Calibri"/>
              </a:rPr>
              <a:t>Prevention: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8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Implement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multi-</a:t>
            </a:r>
            <a:r>
              <a:rPr dirty="0" sz="1200">
                <a:latin typeface="Calibri"/>
                <a:cs typeface="Calibri"/>
              </a:rPr>
              <a:t>factor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authentication.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password-</a:t>
            </a:r>
            <a:r>
              <a:rPr dirty="0" sz="1200">
                <a:latin typeface="Calibri"/>
                <a:cs typeface="Calibri"/>
              </a:rPr>
              <a:t>hashing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algorithms.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login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limiting.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12700" marR="81915">
              <a:lnSpc>
                <a:spcPct val="109800"/>
              </a:lnSpc>
            </a:pPr>
            <a:r>
              <a:rPr dirty="0" sz="1400" b="1">
                <a:latin typeface="Calibri"/>
                <a:cs typeface="Calibri"/>
              </a:rPr>
              <a:t>D.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Security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Misconfiguration </a:t>
            </a:r>
            <a:r>
              <a:rPr dirty="0" sz="1400" b="1">
                <a:latin typeface="Calibri"/>
                <a:cs typeface="Calibri"/>
              </a:rPr>
              <a:t>-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misconfiguration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occurs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application, </a:t>
            </a:r>
            <a:r>
              <a:rPr dirty="0" sz="1200" spc="-20">
                <a:latin typeface="Calibri"/>
                <a:cs typeface="Calibri"/>
              </a:rPr>
              <a:t>server,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database,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cloud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configured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insecurely.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400" spc="-10" b="1">
                <a:latin typeface="Calibri"/>
                <a:cs typeface="Calibri"/>
              </a:rPr>
              <a:t>Examples: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8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credentials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remain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unchanged.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4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Unnecessary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enabled.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400" spc="-10" b="1">
                <a:latin typeface="Calibri"/>
                <a:cs typeface="Calibri"/>
              </a:rPr>
              <a:t>Impact: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8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Unauthorized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access.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exposure.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4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Increased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attack surface.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 spc="-10" b="1">
                <a:latin typeface="Calibri"/>
                <a:cs typeface="Calibri"/>
              </a:rPr>
              <a:t>Prevention: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9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Change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credentials.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44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Disable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unnecessary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services.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4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Apply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patches.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704" y="914348"/>
            <a:ext cx="2033270" cy="21717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0"/>
              </a:lnSpc>
            </a:pPr>
            <a:r>
              <a:rPr dirty="0" sz="1400" spc="-20" b="1">
                <a:latin typeface="Calibri"/>
                <a:cs typeface="Calibri"/>
              </a:rPr>
              <a:t>Task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2: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Install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&amp;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Setup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Tools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221993"/>
            <a:ext cx="5384165" cy="503110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Burp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Suite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(Community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Edition):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kali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terminal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sudo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update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140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Sudo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burpsuite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50"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14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launch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burpsuite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25"/>
              </a:spcBef>
              <a:buFont typeface="Courier New"/>
              <a:buChar char="o"/>
            </a:pP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Install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OWASP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ZAP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Kali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Linux: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Font typeface="Courier New"/>
              <a:buChar char="o"/>
              <a:tabLst>
                <a:tab pos="697865" algn="l"/>
              </a:tabLst>
            </a:pP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https://www.zaproxy.org/download/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35"/>
              </a:spcBef>
              <a:buFont typeface="Courier New"/>
              <a:buChar char="o"/>
            </a:pPr>
            <a:endParaRPr sz="120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DVWA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Docker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Kali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Linux</a:t>
            </a:r>
            <a:endParaRPr sz="1200">
              <a:latin typeface="Calibri"/>
              <a:cs typeface="Calibri"/>
            </a:endParaRPr>
          </a:p>
          <a:p>
            <a:pPr lvl="1" marL="697865" marR="2665095" indent="-228600">
              <a:lnSpc>
                <a:spcPts val="1590"/>
              </a:lnSpc>
              <a:spcBef>
                <a:spcPts val="60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kali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terminal: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sudo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update </a:t>
            </a:r>
            <a:r>
              <a:rPr dirty="0" sz="1200">
                <a:latin typeface="Calibri"/>
                <a:cs typeface="Calibri"/>
              </a:rPr>
              <a:t>sudo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docker.io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</a:t>
            </a:r>
            <a:r>
              <a:rPr dirty="0" sz="1200" spc="-50"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50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docker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check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version: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sudo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systemctl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-</a:t>
            </a:r>
            <a:r>
              <a:rPr dirty="0" sz="1200">
                <a:latin typeface="Calibri"/>
                <a:cs typeface="Calibri"/>
              </a:rPr>
              <a:t>-now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docker</a:t>
            </a:r>
            <a:endParaRPr sz="1200">
              <a:latin typeface="Calibri"/>
              <a:cs typeface="Calibri"/>
            </a:endParaRPr>
          </a:p>
          <a:p>
            <a:pPr marL="697865">
              <a:lnSpc>
                <a:spcPct val="100000"/>
              </a:lnSpc>
              <a:spcBef>
                <a:spcPts val="145"/>
              </a:spcBef>
            </a:pPr>
            <a:r>
              <a:rPr dirty="0" sz="1200">
                <a:latin typeface="Calibri"/>
                <a:cs typeface="Calibri"/>
              </a:rPr>
              <a:t>docker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–version</a:t>
            </a:r>
            <a:endParaRPr sz="1200">
              <a:latin typeface="Calibri"/>
              <a:cs typeface="Calibri"/>
            </a:endParaRPr>
          </a:p>
          <a:p>
            <a:pPr lvl="1" marL="697865" marR="103505" indent="-228600">
              <a:lnSpc>
                <a:spcPct val="110000"/>
              </a:lnSpc>
              <a:buFont typeface="Courier New"/>
              <a:buChar char="o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Docker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Compose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because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DVWA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run </a:t>
            </a:r>
            <a:r>
              <a:rPr dirty="0" sz="1200">
                <a:latin typeface="Calibri"/>
                <a:cs typeface="Calibri"/>
              </a:rPr>
              <a:t>together: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DVWA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database. 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</a:t>
            </a:r>
            <a:r>
              <a:rPr dirty="0" sz="1200" spc="-25">
                <a:latin typeface="Calibri"/>
                <a:cs typeface="Calibri"/>
              </a:rPr>
              <a:t> it: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sudo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docker-compose</a:t>
            </a:r>
            <a:endParaRPr sz="1200">
              <a:latin typeface="Calibri"/>
              <a:cs typeface="Calibri"/>
            </a:endParaRPr>
          </a:p>
          <a:p>
            <a:pPr lvl="1" marL="697865" marR="3564890" indent="-228600">
              <a:lnSpc>
                <a:spcPct val="101699"/>
              </a:lnSpc>
              <a:buFont typeface="Courier New"/>
              <a:buChar char="o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DVWA: </a:t>
            </a:r>
            <a:r>
              <a:rPr dirty="0" sz="1200">
                <a:latin typeface="Calibri"/>
                <a:cs typeface="Calibri"/>
              </a:rPr>
              <a:t>cd</a:t>
            </a:r>
            <a:r>
              <a:rPr dirty="0" sz="1200" spc="-10">
                <a:latin typeface="Calibri"/>
                <a:cs typeface="Calibri"/>
              </a:rPr>
              <a:t> ~/Desktop</a:t>
            </a:r>
            <a:endParaRPr sz="1200">
              <a:latin typeface="Calibri"/>
              <a:cs typeface="Calibri"/>
            </a:endParaRPr>
          </a:p>
          <a:p>
            <a:pPr marL="697865" marR="1689100">
              <a:lnSpc>
                <a:spcPct val="110000"/>
              </a:lnSpc>
            </a:pPr>
            <a:r>
              <a:rPr dirty="0" sz="1200">
                <a:latin typeface="Calibri"/>
                <a:cs typeface="Calibri"/>
              </a:rPr>
              <a:t>git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clone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  <a:hlinkClick r:id="rId3"/>
              </a:rPr>
              <a:t>https://github.com/digininja/DVWA.git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DVWA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140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application: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sudo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docker-</a:t>
            </a:r>
            <a:r>
              <a:rPr dirty="0" sz="1200">
                <a:latin typeface="Calibri"/>
                <a:cs typeface="Calibri"/>
              </a:rPr>
              <a:t>compose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10">
                <a:latin typeface="Calibri"/>
                <a:cs typeface="Calibri"/>
              </a:rPr>
              <a:t> -</a:t>
            </a:r>
            <a:r>
              <a:rPr dirty="0" sz="1200" spc="-50">
                <a:latin typeface="Calibri"/>
                <a:cs typeface="Calibri"/>
              </a:rPr>
              <a:t>d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200">
                <a:latin typeface="Calibri"/>
                <a:cs typeface="Calibri"/>
              </a:rPr>
              <a:t>Check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containers: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sudo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docker-</a:t>
            </a:r>
            <a:r>
              <a:rPr dirty="0" sz="1200">
                <a:latin typeface="Calibri"/>
                <a:cs typeface="Calibri"/>
              </a:rPr>
              <a:t>compose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ps</a:t>
            </a:r>
            <a:endParaRPr sz="120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14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200" b="1">
                <a:latin typeface="Calibri"/>
                <a:cs typeface="Calibri"/>
              </a:rPr>
              <a:t>Open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DVWA</a:t>
            </a:r>
            <a:endParaRPr sz="1200">
              <a:latin typeface="Calibri"/>
              <a:cs typeface="Calibri"/>
            </a:endParaRPr>
          </a:p>
          <a:p>
            <a:pPr marL="697865" marR="3288029">
              <a:lnSpc>
                <a:spcPct val="110000"/>
              </a:lnSpc>
            </a:pP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Firefox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visit: </a:t>
            </a: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http://localhost:4280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215" y="908303"/>
            <a:ext cx="3864085" cy="46634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1919" y="6339839"/>
            <a:ext cx="521102" cy="29565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908120" y="5675375"/>
            <a:ext cx="5747385" cy="1036319"/>
            <a:chOff x="908120" y="5675375"/>
            <a:chExt cx="5747385" cy="1036319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6691" y="6358127"/>
              <a:ext cx="124942" cy="1219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8120" y="5675375"/>
              <a:ext cx="5747369" cy="1036319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12066" y="6854952"/>
            <a:ext cx="862409" cy="10972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39493" y="7016495"/>
            <a:ext cx="374828" cy="4876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75604" y="7037831"/>
            <a:ext cx="2434861" cy="6400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30351" y="7082027"/>
            <a:ext cx="844550" cy="0"/>
          </a:xfrm>
          <a:custGeom>
            <a:avLst/>
            <a:gdLst/>
            <a:ahLst/>
            <a:cxnLst/>
            <a:rect l="l" t="t" r="r" b="b"/>
            <a:pathLst>
              <a:path w="844550" h="0">
                <a:moveTo>
                  <a:pt x="0" y="0"/>
                </a:moveTo>
                <a:lnTo>
                  <a:pt x="844125" y="0"/>
                </a:lnTo>
              </a:path>
            </a:pathLst>
          </a:custGeom>
          <a:ln w="9144">
            <a:solidFill>
              <a:srgbClr val="70778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39493" y="7232903"/>
            <a:ext cx="191985" cy="5181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656555" y="6800595"/>
            <a:ext cx="3173095" cy="1091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00"/>
              </a:spcBef>
            </a:pPr>
            <a:r>
              <a:rPr dirty="0" sz="1000" spc="85">
                <a:solidFill>
                  <a:srgbClr val="2F2F2F"/>
                </a:solidFill>
                <a:latin typeface="Times New Roman"/>
                <a:cs typeface="Times New Roman"/>
              </a:rPr>
              <a:t>Database</a:t>
            </a:r>
            <a:r>
              <a:rPr dirty="0" sz="1000" spc="95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2F2F2F"/>
                </a:solidFill>
                <a:latin typeface="Times New Roman"/>
                <a:cs typeface="Times New Roman"/>
              </a:rPr>
              <a:t>Setup</a:t>
            </a:r>
            <a:endParaRPr sz="10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855"/>
              </a:spcBef>
            </a:pPr>
            <a:r>
              <a:rPr dirty="0" sz="650" spc="-85">
                <a:solidFill>
                  <a:srgbClr val="7C7C7C"/>
                </a:solidFill>
                <a:latin typeface="Times New Roman"/>
                <a:cs typeface="Times New Roman"/>
              </a:rPr>
              <a:t>lf</a:t>
            </a:r>
            <a:r>
              <a:rPr dirty="0" sz="650" spc="30">
                <a:solidFill>
                  <a:srgbClr val="7C7C7C"/>
                </a:solidFill>
                <a:latin typeface="Times New Roman"/>
                <a:cs typeface="Times New Roman"/>
              </a:rPr>
              <a:t> </a:t>
            </a:r>
            <a:r>
              <a:rPr dirty="0" sz="650" spc="-70">
                <a:solidFill>
                  <a:srgbClr val="626262"/>
                </a:solidFill>
                <a:latin typeface="Times New Roman"/>
                <a:cs typeface="Times New Roman"/>
              </a:rPr>
              <a:t>you</a:t>
            </a:r>
            <a:r>
              <a:rPr dirty="0" sz="650" spc="25">
                <a:solidFill>
                  <a:srgbClr val="626262"/>
                </a:solidFill>
                <a:latin typeface="Times New Roman"/>
                <a:cs typeface="Times New Roman"/>
              </a:rPr>
              <a:t> </a:t>
            </a:r>
            <a:r>
              <a:rPr dirty="0" sz="650" spc="-40">
                <a:solidFill>
                  <a:srgbClr val="4F4F4F"/>
                </a:solidFill>
                <a:latin typeface="Times New Roman"/>
                <a:cs typeface="Times New Roman"/>
              </a:rPr>
              <a:t>get</a:t>
            </a:r>
            <a:r>
              <a:rPr dirty="0" sz="650" spc="-5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650" spc="-50">
                <a:solidFill>
                  <a:srgbClr val="424242"/>
                </a:solidFill>
                <a:latin typeface="Times New Roman"/>
                <a:cs typeface="Times New Roman"/>
              </a:rPr>
              <a:t>an</a:t>
            </a:r>
            <a:r>
              <a:rPr dirty="0" sz="650" spc="10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dirty="0" sz="650" spc="-45">
                <a:solidFill>
                  <a:srgbClr val="4B4B4B"/>
                </a:solidFill>
                <a:latin typeface="Times New Roman"/>
                <a:cs typeface="Times New Roman"/>
              </a:rPr>
              <a:t>error</a:t>
            </a:r>
            <a:r>
              <a:rPr dirty="0" sz="650" spc="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650" spc="-30">
                <a:solidFill>
                  <a:srgbClr val="565656"/>
                </a:solidFill>
                <a:latin typeface="Times New Roman"/>
                <a:cs typeface="Times New Roman"/>
              </a:rPr>
              <a:t>mmc</a:t>
            </a:r>
            <a:r>
              <a:rPr dirty="0" sz="650" spc="-20">
                <a:solidFill>
                  <a:srgbClr val="565656"/>
                </a:solidFill>
                <a:latin typeface="Times New Roman"/>
                <a:cs typeface="Times New Roman"/>
              </a:rPr>
              <a:t> </a:t>
            </a:r>
            <a:r>
              <a:rPr dirty="0" sz="650" spc="-20">
                <a:solidFill>
                  <a:srgbClr val="5D5D5D"/>
                </a:solidFill>
                <a:latin typeface="Times New Roman"/>
                <a:cs typeface="Times New Roman"/>
              </a:rPr>
              <a:t>sure</a:t>
            </a:r>
            <a:r>
              <a:rPr dirty="0" sz="650">
                <a:solidFill>
                  <a:srgbClr val="5D5D5D"/>
                </a:solidFill>
                <a:latin typeface="Times New Roman"/>
                <a:cs typeface="Times New Roman"/>
              </a:rPr>
              <a:t> </a:t>
            </a:r>
            <a:r>
              <a:rPr dirty="0" sz="650" spc="-70">
                <a:solidFill>
                  <a:srgbClr val="464646"/>
                </a:solidFill>
                <a:latin typeface="Times New Roman"/>
                <a:cs typeface="Times New Roman"/>
              </a:rPr>
              <a:t>you</a:t>
            </a:r>
            <a:r>
              <a:rPr dirty="0" sz="650" spc="15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650" spc="-45">
                <a:solidFill>
                  <a:srgbClr val="4F4F4F"/>
                </a:solidFill>
                <a:latin typeface="Times New Roman"/>
                <a:cs typeface="Times New Roman"/>
              </a:rPr>
              <a:t>have</a:t>
            </a:r>
            <a:r>
              <a:rPr dirty="0" sz="650" spc="-35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650">
                <a:solidFill>
                  <a:srgbClr val="797979"/>
                </a:solidFill>
                <a:latin typeface="Times New Roman"/>
                <a:cs typeface="Times New Roman"/>
              </a:rPr>
              <a:t>ite</a:t>
            </a:r>
            <a:r>
              <a:rPr dirty="0" sz="650" spc="114">
                <a:solidFill>
                  <a:srgbClr val="797979"/>
                </a:solidFill>
                <a:latin typeface="Times New Roman"/>
                <a:cs typeface="Times New Roman"/>
              </a:rPr>
              <a:t> </a:t>
            </a:r>
            <a:r>
              <a:rPr dirty="0" sz="650" spc="-40">
                <a:solidFill>
                  <a:srgbClr val="464646"/>
                </a:solidFill>
                <a:latin typeface="Times New Roman"/>
                <a:cs typeface="Times New Roman"/>
              </a:rPr>
              <a:t>correct</a:t>
            </a:r>
            <a:r>
              <a:rPr dirty="0" sz="650" spc="60">
                <a:solidFill>
                  <a:srgbClr val="464646"/>
                </a:solidFill>
                <a:latin typeface="Times New Roman"/>
                <a:cs typeface="Times New Roman"/>
              </a:rPr>
              <a:t> </a:t>
            </a:r>
            <a:r>
              <a:rPr dirty="0" sz="650" spc="-30">
                <a:solidFill>
                  <a:srgbClr val="646464"/>
                </a:solidFill>
                <a:latin typeface="Times New Roman"/>
                <a:cs typeface="Times New Roman"/>
              </a:rPr>
              <a:t>user</a:t>
            </a:r>
            <a:r>
              <a:rPr dirty="0" sz="650" spc="30">
                <a:solidFill>
                  <a:srgbClr val="646464"/>
                </a:solidFill>
                <a:latin typeface="Times New Roman"/>
                <a:cs typeface="Times New Roman"/>
              </a:rPr>
              <a:t> </a:t>
            </a:r>
            <a:r>
              <a:rPr dirty="0" sz="650" spc="-40">
                <a:solidFill>
                  <a:srgbClr val="3F3F3F"/>
                </a:solidFill>
                <a:latin typeface="Times New Roman"/>
                <a:cs typeface="Times New Roman"/>
              </a:rPr>
              <a:t>credentials</a:t>
            </a:r>
            <a:r>
              <a:rPr dirty="0" sz="650" spc="2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650" spc="-60">
                <a:solidFill>
                  <a:srgbClr val="676767"/>
                </a:solidFill>
                <a:latin typeface="Times New Roman"/>
                <a:cs typeface="Times New Roman"/>
              </a:rPr>
              <a:t>in:</a:t>
            </a:r>
            <a:r>
              <a:rPr dirty="0" sz="650" spc="-30">
                <a:solidFill>
                  <a:srgbClr val="676767"/>
                </a:solidFill>
                <a:latin typeface="Times New Roman"/>
                <a:cs typeface="Times New Roman"/>
              </a:rPr>
              <a:t> </a:t>
            </a:r>
            <a:r>
              <a:rPr dirty="0" sz="650" spc="-25">
                <a:solidFill>
                  <a:srgbClr val="343434"/>
                </a:solidFill>
                <a:latin typeface="Times New Roman"/>
                <a:cs typeface="Times New Roman"/>
              </a:rPr>
              <a:t>Rarfwwwfhtml/conti9feorifig.inc.php</a:t>
            </a:r>
            <a:endParaRPr sz="650">
              <a:latin typeface="Times New Roman"/>
              <a:cs typeface="Times New Roman"/>
            </a:endParaRPr>
          </a:p>
          <a:p>
            <a:pPr marL="13970">
              <a:lnSpc>
                <a:spcPts val="650"/>
              </a:lnSpc>
              <a:spcBef>
                <a:spcPts val="395"/>
              </a:spcBef>
            </a:pPr>
            <a:r>
              <a:rPr dirty="0" sz="600" spc="-10">
                <a:solidFill>
                  <a:srgbClr val="7C7C7C"/>
                </a:solidFill>
                <a:latin typeface="Arial"/>
                <a:cs typeface="Arial"/>
              </a:rPr>
              <a:t>ir</a:t>
            </a:r>
            <a:r>
              <a:rPr dirty="0" sz="600" spc="-20">
                <a:solidFill>
                  <a:srgbClr val="7C7C7C"/>
                </a:solidFill>
                <a:latin typeface="Arial"/>
                <a:cs typeface="Arial"/>
              </a:rPr>
              <a:t> </a:t>
            </a:r>
            <a:r>
              <a:rPr dirty="0" sz="600" spc="-65">
                <a:solidFill>
                  <a:srgbClr val="6E6E6E"/>
                </a:solidFill>
                <a:latin typeface="Arial"/>
                <a:cs typeface="Arial"/>
              </a:rPr>
              <a:t>the</a:t>
            </a:r>
            <a:r>
              <a:rPr dirty="0" sz="600" spc="-2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757575"/>
                </a:solidFill>
                <a:latin typeface="Arial"/>
                <a:cs typeface="Arial"/>
              </a:rPr>
              <a:t>dataase</a:t>
            </a:r>
            <a:r>
              <a:rPr dirty="0" sz="600" spc="15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dirty="0" sz="600" spc="-50">
                <a:solidFill>
                  <a:srgbClr val="565656"/>
                </a:solidFill>
                <a:latin typeface="Arial"/>
                <a:cs typeface="Arial"/>
              </a:rPr>
              <a:t>already</a:t>
            </a:r>
            <a:r>
              <a:rPr dirty="0" sz="600" spc="15">
                <a:solidFill>
                  <a:srgbClr val="565656"/>
                </a:solidFill>
                <a:latin typeface="Arial"/>
                <a:cs typeface="Arial"/>
              </a:rPr>
              <a:t> </a:t>
            </a:r>
            <a:r>
              <a:rPr dirty="0" sz="600" spc="-50">
                <a:solidFill>
                  <a:srgbClr val="6D6D6D"/>
                </a:solidFill>
                <a:latin typeface="Arial"/>
                <a:cs typeface="Arial"/>
              </a:rPr>
              <a:t>exists.</a:t>
            </a:r>
            <a:r>
              <a:rPr dirty="0" sz="600" spc="-3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777777"/>
                </a:solidFill>
                <a:latin typeface="Arial"/>
                <a:cs typeface="Arial"/>
              </a:rPr>
              <a:t>it</a:t>
            </a:r>
            <a:r>
              <a:rPr dirty="0" sz="600" spc="45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363636"/>
                </a:solidFill>
                <a:latin typeface="Arial"/>
                <a:cs typeface="Arial"/>
              </a:rPr>
              <a:t>will</a:t>
            </a:r>
            <a:r>
              <a:rPr dirty="0" sz="600" spc="-2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600" spc="-35">
                <a:solidFill>
                  <a:srgbClr val="5E5E5E"/>
                </a:solidFill>
                <a:latin typeface="Arial"/>
                <a:cs typeface="Arial"/>
              </a:rPr>
              <a:t>be</a:t>
            </a:r>
            <a:r>
              <a:rPr dirty="0" sz="600" spc="-6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383838"/>
                </a:solidFill>
                <a:latin typeface="Arial"/>
                <a:cs typeface="Arial"/>
              </a:rPr>
              <a:t>ciearwi</a:t>
            </a:r>
            <a:r>
              <a:rPr dirty="0" sz="600" spc="5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600" spc="-50">
                <a:solidFill>
                  <a:srgbClr val="383838"/>
                </a:solidFill>
                <a:latin typeface="Arial"/>
                <a:cs typeface="Arial"/>
              </a:rPr>
              <a:t>ana</a:t>
            </a:r>
            <a:r>
              <a:rPr dirty="0" sz="600" spc="-4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2F2F2F"/>
                </a:solidFill>
                <a:latin typeface="Arial"/>
                <a:cs typeface="Arial"/>
              </a:rPr>
              <a:t>be</a:t>
            </a:r>
            <a:r>
              <a:rPr dirty="0" sz="600" spc="14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600" spc="-40">
                <a:solidFill>
                  <a:srgbClr val="3F3F3F"/>
                </a:solidFill>
                <a:latin typeface="Arial"/>
                <a:cs typeface="Arial"/>
              </a:rPr>
              <a:t>data</a:t>
            </a:r>
            <a:r>
              <a:rPr dirty="0" sz="600" spc="-25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600" spc="-20">
                <a:solidFill>
                  <a:srgbClr val="313131"/>
                </a:solidFill>
                <a:latin typeface="Arial"/>
                <a:cs typeface="Arial"/>
              </a:rPr>
              <a:t>will</a:t>
            </a:r>
            <a:r>
              <a:rPr dirty="0" sz="600" spc="-4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600" spc="-35">
                <a:solidFill>
                  <a:srgbClr val="343434"/>
                </a:solidFill>
                <a:latin typeface="Arial"/>
                <a:cs typeface="Arial"/>
              </a:rPr>
              <a:t>be</a:t>
            </a:r>
            <a:r>
              <a:rPr dirty="0" sz="600" spc="-5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343434"/>
                </a:solidFill>
                <a:latin typeface="Arial"/>
                <a:cs typeface="Arial"/>
              </a:rPr>
              <a:t>reset.</a:t>
            </a:r>
            <a:endParaRPr sz="600">
              <a:latin typeface="Arial"/>
              <a:cs typeface="Arial"/>
            </a:endParaRPr>
          </a:p>
          <a:p>
            <a:pPr marL="18415">
              <a:lnSpc>
                <a:spcPts val="650"/>
              </a:lnSpc>
            </a:pPr>
            <a:r>
              <a:rPr dirty="0" sz="600" spc="-105">
                <a:solidFill>
                  <a:srgbClr val="3F3F3F"/>
                </a:solidFill>
                <a:latin typeface="Arial"/>
                <a:cs typeface="Arial"/>
              </a:rPr>
              <a:t>You</a:t>
            </a:r>
            <a:r>
              <a:rPr dirty="0" sz="600" spc="2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600" spc="-60">
                <a:solidFill>
                  <a:srgbClr val="565656"/>
                </a:solidFill>
                <a:latin typeface="Arial"/>
                <a:cs typeface="Arial"/>
              </a:rPr>
              <a:t>can</a:t>
            </a:r>
            <a:r>
              <a:rPr dirty="0" sz="600" spc="-35">
                <a:solidFill>
                  <a:srgbClr val="565656"/>
                </a:solidFill>
                <a:latin typeface="Arial"/>
                <a:cs typeface="Arial"/>
              </a:rPr>
              <a:t> </a:t>
            </a:r>
            <a:r>
              <a:rPr dirty="0" sz="600" spc="-55">
                <a:solidFill>
                  <a:srgbClr val="4F4F4F"/>
                </a:solidFill>
                <a:latin typeface="Arial"/>
                <a:cs typeface="Arial"/>
              </a:rPr>
              <a:t>also</a:t>
            </a:r>
            <a:r>
              <a:rPr dirty="0" sz="600" spc="-2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dirty="0" sz="600" spc="-55">
                <a:solidFill>
                  <a:srgbClr val="565656"/>
                </a:solidFill>
                <a:latin typeface="Arial"/>
                <a:cs typeface="Arial"/>
              </a:rPr>
              <a:t>use</a:t>
            </a:r>
            <a:r>
              <a:rPr dirty="0" sz="600" spc="15">
                <a:solidFill>
                  <a:srgbClr val="565656"/>
                </a:solidFill>
                <a:latin typeface="Arial"/>
                <a:cs typeface="Arial"/>
              </a:rPr>
              <a:t> </a:t>
            </a:r>
            <a:r>
              <a:rPr dirty="0" sz="600" spc="-50">
                <a:solidFill>
                  <a:srgbClr val="444444"/>
                </a:solidFill>
                <a:latin typeface="Arial"/>
                <a:cs typeface="Arial"/>
              </a:rPr>
              <a:t>this</a:t>
            </a:r>
            <a:r>
              <a:rPr dirty="0" sz="600" spc="-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727272"/>
                </a:solidFill>
                <a:latin typeface="Arial"/>
                <a:cs typeface="Arial"/>
              </a:rPr>
              <a:t>la </a:t>
            </a:r>
            <a:r>
              <a:rPr dirty="0" sz="600" spc="-50">
                <a:solidFill>
                  <a:srgbClr val="505050"/>
                </a:solidFill>
                <a:latin typeface="Arial"/>
                <a:cs typeface="Arial"/>
              </a:rPr>
              <a:t>reset</a:t>
            </a:r>
            <a:r>
              <a:rPr dirty="0" sz="600" spc="-10">
                <a:solidFill>
                  <a:srgbClr val="505050"/>
                </a:solidFill>
                <a:latin typeface="Arial"/>
                <a:cs typeface="Arial"/>
              </a:rPr>
              <a:t> </a:t>
            </a:r>
            <a:r>
              <a:rPr dirty="0" sz="600" spc="-50">
                <a:solidFill>
                  <a:srgbClr val="414141"/>
                </a:solidFill>
                <a:latin typeface="Arial"/>
                <a:cs typeface="Arial"/>
              </a:rPr>
              <a:t>rhe</a:t>
            </a:r>
            <a:r>
              <a:rPr dirty="0" sz="600" spc="-4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600" spc="-50">
                <a:solidFill>
                  <a:srgbClr val="4B4B4B"/>
                </a:solidFill>
                <a:latin typeface="Arial"/>
                <a:cs typeface="Arial"/>
              </a:rPr>
              <a:t>administrator</a:t>
            </a:r>
            <a:r>
              <a:rPr dirty="0" sz="600" spc="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600" spc="-35">
                <a:solidFill>
                  <a:srgbClr val="313131"/>
                </a:solidFill>
                <a:latin typeface="Arial"/>
                <a:cs typeface="Arial"/>
              </a:rPr>
              <a:t>credentials</a:t>
            </a:r>
            <a:r>
              <a:rPr dirty="0" sz="600" spc="36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600" spc="-40">
                <a:solidFill>
                  <a:srgbClr val="363636"/>
                </a:solidFill>
                <a:latin typeface="Arial"/>
                <a:cs typeface="Arial"/>
              </a:rPr>
              <a:t>aamin</a:t>
            </a:r>
            <a:r>
              <a:rPr dirty="0" sz="600" spc="3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600" spc="-30">
                <a:solidFill>
                  <a:srgbClr val="757575"/>
                </a:solidFill>
                <a:latin typeface="Arial"/>
                <a:cs typeface="Arial"/>
              </a:rPr>
              <a:t>// </a:t>
            </a:r>
            <a:r>
              <a:rPr dirty="0" sz="600">
                <a:solidFill>
                  <a:srgbClr val="313131"/>
                </a:solidFill>
                <a:latin typeface="Arial"/>
                <a:cs typeface="Arial"/>
              </a:rPr>
              <a:t>pasword</a:t>
            </a:r>
            <a:r>
              <a:rPr dirty="0" sz="600" spc="-7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600" spc="-60">
                <a:solidFill>
                  <a:srgbClr val="7B7B7B"/>
                </a:solidFill>
                <a:latin typeface="Arial"/>
                <a:cs typeface="Arial"/>
              </a:rPr>
              <a:t>g</a:t>
            </a:r>
            <a:r>
              <a:rPr dirty="0" sz="600" spc="-20">
                <a:solidFill>
                  <a:srgbClr val="7B7B7B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4D4D4D"/>
                </a:solidFill>
                <a:latin typeface="Arial"/>
                <a:cs typeface="Arial"/>
              </a:rPr>
              <a:t>ai</a:t>
            </a:r>
            <a:r>
              <a:rPr dirty="0" sz="600" spc="-2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600" spc="-70">
                <a:solidFill>
                  <a:srgbClr val="494949"/>
                </a:solidFill>
                <a:latin typeface="Arial"/>
                <a:cs typeface="Arial"/>
              </a:rPr>
              <a:t>any</a:t>
            </a:r>
            <a:r>
              <a:rPr dirty="0" sz="600" spc="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494949"/>
                </a:solidFill>
                <a:latin typeface="Arial"/>
                <a:cs typeface="Arial"/>
              </a:rPr>
              <a:t>stage.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800" spc="90">
                <a:solidFill>
                  <a:srgbClr val="2F2F2F"/>
                </a:solidFill>
                <a:latin typeface="Times New Roman"/>
                <a:cs typeface="Times New Roman"/>
              </a:rPr>
              <a:t>Setup</a:t>
            </a:r>
            <a:r>
              <a:rPr dirty="0" sz="800">
                <a:solidFill>
                  <a:srgbClr val="2F2F2F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2F2F2F"/>
                </a:solidFill>
                <a:latin typeface="Times New Roman"/>
                <a:cs typeface="Times New Roman"/>
              </a:rPr>
              <a:t>Check</a:t>
            </a: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8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</a:pPr>
            <a:r>
              <a:rPr dirty="0" sz="600" spc="-100">
                <a:solidFill>
                  <a:srgbClr val="666666"/>
                </a:solidFill>
                <a:latin typeface="Courier New"/>
                <a:cs typeface="Courier New"/>
              </a:rPr>
              <a:t>Operaing</a:t>
            </a:r>
            <a:r>
              <a:rPr dirty="0" sz="600" spc="-13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600" spc="-20">
                <a:solidFill>
                  <a:srgbClr val="383838"/>
                </a:solidFill>
                <a:latin typeface="Courier New"/>
                <a:cs typeface="Courier New"/>
              </a:rPr>
              <a:t>synem:*nix</a:t>
            </a:r>
            <a:endParaRPr sz="6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33399" y="7301483"/>
            <a:ext cx="841375" cy="0"/>
          </a:xfrm>
          <a:custGeom>
            <a:avLst/>
            <a:gdLst/>
            <a:ahLst/>
            <a:cxnLst/>
            <a:rect l="l" t="t" r="r" b="b"/>
            <a:pathLst>
              <a:path w="841375" h="0">
                <a:moveTo>
                  <a:pt x="0" y="0"/>
                </a:moveTo>
                <a:lnTo>
                  <a:pt x="841078" y="0"/>
                </a:lnTo>
              </a:path>
            </a:pathLst>
          </a:custGeom>
          <a:ln w="3175">
            <a:solidFill>
              <a:srgbClr val="70778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75604" y="7967471"/>
            <a:ext cx="743562" cy="5181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655427" y="8149843"/>
            <a:ext cx="7867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30">
                <a:solidFill>
                  <a:srgbClr val="313131"/>
                </a:solidFill>
                <a:latin typeface="Consolas"/>
                <a:cs typeface="Consolas"/>
              </a:rPr>
              <a:t>reCAPTCHAkey:</a:t>
            </a:r>
            <a:r>
              <a:rPr dirty="0" sz="600" spc="-70">
                <a:solidFill>
                  <a:srgbClr val="313131"/>
                </a:solidFill>
                <a:latin typeface="Consolas"/>
                <a:cs typeface="Consolas"/>
              </a:rPr>
              <a:t> </a:t>
            </a:r>
            <a:r>
              <a:rPr dirty="0" sz="600" spc="-55">
                <a:solidFill>
                  <a:srgbClr val="FB4141"/>
                </a:solidFill>
                <a:latin typeface="Consolas"/>
                <a:cs typeface="Consolas"/>
              </a:rPr>
              <a:t>Missing</a:t>
            </a:r>
            <a:endParaRPr sz="600">
              <a:latin typeface="Consolas"/>
              <a:cs typeface="Consola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72557" y="8339327"/>
            <a:ext cx="1526740" cy="12496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72556" y="8570976"/>
            <a:ext cx="1176290" cy="13716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662325" y="8832850"/>
            <a:ext cx="118427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solidFill>
                  <a:srgbClr val="4B4B4B"/>
                </a:solidFill>
                <a:latin typeface="Times New Roman"/>
                <a:cs typeface="Times New Roman"/>
              </a:rPr>
              <a:t>mod</a:t>
            </a:r>
            <a:r>
              <a:rPr dirty="0" sz="550" spc="125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550" spc="-10">
                <a:solidFill>
                  <a:srgbClr val="4B4B4B"/>
                </a:solidFill>
                <a:latin typeface="Times New Roman"/>
                <a:cs typeface="Times New Roman"/>
              </a:rPr>
              <a:t>rewrite</a:t>
            </a:r>
            <a:r>
              <a:rPr dirty="0" sz="550" spc="30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550">
                <a:solidFill>
                  <a:srgbClr val="727272"/>
                </a:solidFill>
                <a:latin typeface="Times New Roman"/>
                <a:cs typeface="Times New Roman"/>
              </a:rPr>
              <a:t>is</a:t>
            </a:r>
            <a:r>
              <a:rPr dirty="0" sz="550" spc="30">
                <a:solidFill>
                  <a:srgbClr val="727272"/>
                </a:solidFill>
                <a:latin typeface="Times New Roman"/>
                <a:cs typeface="Times New Roman"/>
              </a:rPr>
              <a:t> </a:t>
            </a:r>
            <a:r>
              <a:rPr dirty="0" sz="550">
                <a:solidFill>
                  <a:srgbClr val="3F3F3F"/>
                </a:solidFill>
                <a:latin typeface="Times New Roman"/>
                <a:cs typeface="Times New Roman"/>
              </a:rPr>
              <a:t>required</a:t>
            </a:r>
            <a:r>
              <a:rPr dirty="0" sz="550" spc="15">
                <a:solidFill>
                  <a:srgbClr val="3F3F3F"/>
                </a:solidFill>
                <a:latin typeface="Times New Roman"/>
                <a:cs typeface="Times New Roman"/>
              </a:rPr>
              <a:t> </a:t>
            </a:r>
            <a:r>
              <a:rPr dirty="0" sz="550" spc="-20">
                <a:solidFill>
                  <a:srgbClr val="4F4F4F"/>
                </a:solidFill>
                <a:latin typeface="Times New Roman"/>
                <a:cs typeface="Times New Roman"/>
              </a:rPr>
              <a:t>for</a:t>
            </a:r>
            <a:r>
              <a:rPr dirty="0" sz="550" spc="1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dirty="0" sz="550">
                <a:solidFill>
                  <a:srgbClr val="414141"/>
                </a:solidFill>
                <a:latin typeface="Times New Roman"/>
                <a:cs typeface="Times New Roman"/>
              </a:rPr>
              <a:t>the</a:t>
            </a:r>
            <a:r>
              <a:rPr dirty="0" sz="550" spc="20">
                <a:solidFill>
                  <a:srgbClr val="414141"/>
                </a:solidFill>
                <a:latin typeface="Times New Roman"/>
                <a:cs typeface="Times New Roman"/>
              </a:rPr>
              <a:t> </a:t>
            </a:r>
            <a:r>
              <a:rPr dirty="0" sz="550" spc="-35">
                <a:solidFill>
                  <a:srgbClr val="606060"/>
                </a:solidFill>
                <a:latin typeface="Times New Roman"/>
                <a:cs typeface="Times New Roman"/>
              </a:rPr>
              <a:t>API</a:t>
            </a:r>
            <a:r>
              <a:rPr dirty="0" sz="55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dirty="0" sz="550" spc="-10">
                <a:solidFill>
                  <a:srgbClr val="4B4B4B"/>
                </a:solidFill>
                <a:latin typeface="Times New Roman"/>
                <a:cs typeface="Times New Roman"/>
              </a:rPr>
              <a:t>labs.</a:t>
            </a:r>
            <a:endParaRPr sz="55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72556" y="9022079"/>
            <a:ext cx="575955" cy="1158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704" y="914348"/>
            <a:ext cx="2383155" cy="21717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0"/>
              </a:lnSpc>
            </a:pPr>
            <a:r>
              <a:rPr dirty="0" sz="1400" b="1">
                <a:latin typeface="Calibri"/>
                <a:cs typeface="Calibri"/>
              </a:rPr>
              <a:t>Task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3: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Perform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Testing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(DVWA)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336293"/>
            <a:ext cx="1540510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Injection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</a:pP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value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914651"/>
            <a:ext cx="3406140" cy="15392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9153" y="3996054"/>
            <a:ext cx="3920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injection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condition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lab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entering: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4216653"/>
            <a:ext cx="4511040" cy="36195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2004" y="8148066"/>
            <a:ext cx="5649595" cy="828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9700"/>
              </a:lnSpc>
              <a:spcBef>
                <a:spcPts val="105"/>
              </a:spcBef>
            </a:pPr>
            <a:r>
              <a:rPr dirty="0" sz="1200" b="1">
                <a:latin typeface="Calibri"/>
                <a:cs typeface="Calibri"/>
              </a:rPr>
              <a:t>Result: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injection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Normally,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should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display </a:t>
            </a:r>
            <a:r>
              <a:rPr dirty="0" sz="1200">
                <a:latin typeface="Calibri"/>
                <a:cs typeface="Calibri"/>
              </a:rPr>
              <a:t>only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user's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However,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injected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condition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'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'1'='1'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always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true,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causing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application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display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records.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#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symbol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comments </a:t>
            </a:r>
            <a:r>
              <a:rPr dirty="0" sz="1200">
                <a:latin typeface="Calibri"/>
                <a:cs typeface="Calibri"/>
              </a:rPr>
              <a:t>out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remaining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MySQL.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shows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safely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input.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903223"/>
            <a:ext cx="3711575" cy="1214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200" spc="-30">
                <a:latin typeface="Calibri"/>
                <a:cs typeface="Calibri"/>
              </a:rPr>
              <a:t>Test </a:t>
            </a:r>
            <a:r>
              <a:rPr dirty="0" sz="1200">
                <a:latin typeface="Calibri"/>
                <a:cs typeface="Calibri"/>
              </a:rPr>
              <a:t>XSS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(Stored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Reflected)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XSS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(Reflected)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DVWA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2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&lt;script&gt;alert('Reflected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XSS')&lt;/script&gt;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submit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Check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whether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appears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page.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132958"/>
            <a:ext cx="5652770" cy="2008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Browser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alert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dialogue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successfully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generated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localhost:4280 </a:t>
            </a:r>
            <a:r>
              <a:rPr dirty="0" sz="1200">
                <a:latin typeface="Calibri"/>
                <a:cs typeface="Calibri"/>
              </a:rPr>
              <a:t>displaying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string </a:t>
            </a:r>
            <a:r>
              <a:rPr dirty="0" sz="1200" spc="-10" b="1">
                <a:latin typeface="Calibri"/>
                <a:cs typeface="Calibri"/>
              </a:rPr>
              <a:t>"Reflected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XSS"</a:t>
            </a:r>
            <a:r>
              <a:rPr dirty="0" sz="1200">
                <a:latin typeface="Calibri"/>
                <a:cs typeface="Calibri"/>
              </a:rPr>
              <a:t>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confirms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presence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high-severity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flaw.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buFont typeface="Symbol"/>
              <a:buChar char=""/>
              <a:tabLst>
                <a:tab pos="469265" algn="l"/>
              </a:tabLst>
            </a:pPr>
            <a:r>
              <a:rPr dirty="0" sz="1200" spc="-30">
                <a:latin typeface="Calibri"/>
                <a:cs typeface="Calibri"/>
              </a:rPr>
              <a:t>Test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XSS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XSS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(Stored)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DVWA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menu.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name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labuser</a:t>
            </a:r>
            <a:r>
              <a:rPr dirty="0" sz="1400" spc="-1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&lt;script&gt;alert('Stored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XSS')&lt;/script&gt;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submit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Verify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appears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guestbook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list.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432303"/>
            <a:ext cx="5731509" cy="27199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4942205" cy="259816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02004" y="3590670"/>
            <a:ext cx="5527675" cy="629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button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submit,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website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database. </a:t>
            </a:r>
            <a:r>
              <a:rPr dirty="0" sz="1200">
                <a:latin typeface="Calibri"/>
                <a:cs typeface="Calibri"/>
              </a:rPr>
              <a:t>Because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website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doesn't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clean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text,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immediately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popping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grey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box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says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"Stored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XSS"</a:t>
            </a:r>
            <a:r>
              <a:rPr dirty="0" sz="1200" spc="-2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332985"/>
            <a:ext cx="4305300" cy="27965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7211948"/>
            <a:ext cx="5697220" cy="6273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105"/>
              </a:spcBef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isn't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actually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missing.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text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is</a:t>
            </a:r>
            <a:r>
              <a:rPr dirty="0" sz="1200" spc="-25" i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hidden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loads,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browser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reads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hidden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executes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behind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scenes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displaying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text.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914399"/>
            <a:ext cx="5731509" cy="2958465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704" y="4593970"/>
            <a:ext cx="1931670" cy="18796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80"/>
              </a:lnSpc>
            </a:pPr>
            <a:r>
              <a:rPr dirty="0" sz="1200" spc="-20" b="1">
                <a:latin typeface="Calibri"/>
                <a:cs typeface="Calibri"/>
              </a:rPr>
              <a:t>Task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4: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Scan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Using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OWASP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25" b="1">
                <a:latin typeface="Calibri"/>
                <a:cs typeface="Calibri"/>
              </a:rPr>
              <a:t>ZAP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4896611"/>
            <a:ext cx="5731509" cy="324891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30604" y="8234933"/>
            <a:ext cx="4471670" cy="62611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29"/>
              </a:spcBef>
              <a:buSzPct val="91666"/>
              <a:buAutoNum type="arabicPeriod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tab,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Automated</a:t>
            </a:r>
            <a:r>
              <a:rPr dirty="0" sz="1200" spc="-20">
                <a:latin typeface="Calibri"/>
                <a:cs typeface="Calibri"/>
              </a:rPr>
              <a:t> Scan.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URL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attack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  <a:hlinkClick r:id="rId2"/>
              </a:rPr>
              <a:t>http://localhost:4280/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Attack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ZAP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finish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crawling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scanning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site.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79"/>
            <a:ext cx="5732145" cy="3350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In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total,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ZAP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sent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114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requests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and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flagged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13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vulnerabilities</a:t>
            </a:r>
            <a:endParaRPr sz="12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1095"/>
              </a:spcBef>
              <a:buClr>
                <a:srgbClr val="FF6722"/>
              </a:buClr>
              <a:buFont typeface="Segoe UI Emoji"/>
              <a:buChar char="●"/>
              <a:tabLst>
                <a:tab pos="257175" algn="l"/>
              </a:tabLst>
            </a:pPr>
            <a:r>
              <a:rPr dirty="0" sz="1200" b="1">
                <a:latin typeface="Calibri"/>
                <a:cs typeface="Calibri"/>
              </a:rPr>
              <a:t>Medium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Risk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Alerts</a:t>
            </a:r>
            <a:endParaRPr sz="1200">
              <a:latin typeface="Calibri"/>
              <a:cs typeface="Calibri"/>
            </a:endParaRPr>
          </a:p>
          <a:p>
            <a:pPr lvl="1" marL="469265" marR="109855" indent="-228600">
              <a:lnSpc>
                <a:spcPct val="101899"/>
              </a:lnSpc>
              <a:spcBef>
                <a:spcPts val="920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b="1">
                <a:latin typeface="Calibri"/>
                <a:cs typeface="Calibri"/>
              </a:rPr>
              <a:t>HTTP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Only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Site: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unencrypted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HTTP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secure </a:t>
            </a:r>
            <a:r>
              <a:rPr dirty="0" sz="1200">
                <a:latin typeface="Calibri"/>
                <a:cs typeface="Calibri"/>
              </a:rPr>
              <a:t>HTTPS.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passed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application—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passwords </a:t>
            </a:r>
            <a:r>
              <a:rPr dirty="0" sz="1200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session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tokens—</a:t>
            </a:r>
            <a:r>
              <a:rPr dirty="0" sz="1200">
                <a:latin typeface="Calibri"/>
                <a:cs typeface="Calibri"/>
              </a:rPr>
              <a:t>is vulnerable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interception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via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Man-in-the-</a:t>
            </a:r>
            <a:r>
              <a:rPr dirty="0" sz="1200" b="1">
                <a:latin typeface="Calibri"/>
                <a:cs typeface="Calibri"/>
              </a:rPr>
              <a:t>Middle</a:t>
            </a:r>
            <a:r>
              <a:rPr dirty="0" sz="1200" spc="-10" b="1">
                <a:latin typeface="Calibri"/>
                <a:cs typeface="Calibri"/>
              </a:rPr>
              <a:t> (MitM) </a:t>
            </a:r>
            <a:r>
              <a:rPr dirty="0" sz="1200" spc="-10">
                <a:latin typeface="Calibri"/>
                <a:cs typeface="Calibri"/>
              </a:rPr>
              <a:t>attacks.</a:t>
            </a:r>
            <a:endParaRPr sz="1200">
              <a:latin typeface="Calibri"/>
              <a:cs typeface="Calibri"/>
            </a:endParaRPr>
          </a:p>
          <a:p>
            <a:pPr lvl="1" marL="469265" marR="5080" indent="-228600">
              <a:lnSpc>
                <a:spcPct val="101699"/>
              </a:lnSpc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 b="1">
                <a:latin typeface="Calibri"/>
                <a:cs typeface="Calibri"/>
              </a:rPr>
              <a:t>Missing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Anti-clickjacking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Header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(2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instances):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lacks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X-Frame-</a:t>
            </a:r>
            <a:r>
              <a:rPr dirty="0" sz="1200">
                <a:latin typeface="Calibri"/>
                <a:cs typeface="Calibri"/>
              </a:rPr>
              <a:t>Options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>
                <a:latin typeface="Calibri"/>
                <a:cs typeface="Calibri"/>
              </a:rPr>
              <a:t>CSP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frame-</a:t>
            </a:r>
            <a:r>
              <a:rPr dirty="0" sz="1200">
                <a:latin typeface="Calibri"/>
                <a:cs typeface="Calibri"/>
              </a:rPr>
              <a:t>ancestor’s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directives.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malicious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sites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your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 </a:t>
            </a:r>
            <a:r>
              <a:rPr dirty="0" sz="1200">
                <a:latin typeface="Calibri"/>
                <a:cs typeface="Calibri"/>
              </a:rPr>
              <a:t>inside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invisible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&lt;iframe&gt;,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tricking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clicking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buttons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 spc="-10">
                <a:latin typeface="Calibri"/>
                <a:cs typeface="Calibri"/>
              </a:rPr>
              <a:t>click.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090"/>
              </a:spcBef>
              <a:buFont typeface="Symbol"/>
              <a:buChar char=""/>
            </a:pPr>
            <a:endParaRPr sz="12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buClr>
                <a:srgbClr val="FBD43E"/>
              </a:buClr>
              <a:buFont typeface="Segoe UI Emoji"/>
              <a:buChar char="●"/>
              <a:tabLst>
                <a:tab pos="257175" algn="l"/>
              </a:tabLst>
            </a:pPr>
            <a:r>
              <a:rPr dirty="0" sz="1200" b="1">
                <a:latin typeface="Calibri"/>
                <a:cs typeface="Calibri"/>
              </a:rPr>
              <a:t>Low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Risk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Alerts</a:t>
            </a:r>
            <a:endParaRPr sz="1200">
              <a:latin typeface="Calibri"/>
              <a:cs typeface="Calibri"/>
            </a:endParaRPr>
          </a:p>
          <a:p>
            <a:pPr algn="just" lvl="1" marL="469265" marR="98425" indent="-228600">
              <a:lnSpc>
                <a:spcPct val="110000"/>
              </a:lnSpc>
              <a:spcBef>
                <a:spcPts val="80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Banner</a:t>
            </a:r>
            <a:r>
              <a:rPr dirty="0" sz="1200" spc="-10">
                <a:latin typeface="Calibri"/>
                <a:cs typeface="Calibri"/>
              </a:rPr>
              <a:t> Information</a:t>
            </a:r>
            <a:r>
              <a:rPr dirty="0" sz="1200">
                <a:latin typeface="Calibri"/>
                <a:cs typeface="Calibri"/>
              </a:rPr>
              <a:t> Leak: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exposes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software, system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version </a:t>
            </a:r>
            <a:r>
              <a:rPr dirty="0" sz="1200">
                <a:latin typeface="Calibri"/>
                <a:cs typeface="Calibri"/>
              </a:rPr>
              <a:t>names,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engineering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details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inside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visible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source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assisting </a:t>
            </a:r>
            <a:r>
              <a:rPr dirty="0" sz="1200" spc="-20">
                <a:latin typeface="Calibri"/>
                <a:cs typeface="Calibri"/>
              </a:rPr>
              <a:t>attackers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targeted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recon.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357369"/>
            <a:ext cx="5731509" cy="22015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6683502"/>
            <a:ext cx="5731509" cy="16224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704" y="1216405"/>
            <a:ext cx="1604010" cy="2184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0"/>
              </a:lnSpc>
            </a:pPr>
            <a:r>
              <a:rPr dirty="0" sz="1400" spc="-20" b="1">
                <a:latin typeface="Calibri"/>
                <a:cs typeface="Calibri"/>
              </a:rPr>
              <a:t>Task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5: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Project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Report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542033"/>
            <a:ext cx="5514340" cy="5941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Introduction</a:t>
            </a:r>
            <a:r>
              <a:rPr dirty="0" u="sng" sz="1400" spc="-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VAPT</a:t>
            </a:r>
            <a:endParaRPr sz="1400">
              <a:latin typeface="Calibri"/>
              <a:cs typeface="Calibri"/>
            </a:endParaRPr>
          </a:p>
          <a:p>
            <a:pPr marL="12700" marR="30480">
              <a:lnSpc>
                <a:spcPct val="101699"/>
              </a:lnSpc>
              <a:spcBef>
                <a:spcPts val="1535"/>
              </a:spcBef>
            </a:pPr>
            <a:r>
              <a:rPr dirty="0" sz="1200">
                <a:latin typeface="Calibri"/>
                <a:cs typeface="Calibri"/>
              </a:rPr>
              <a:t>Vulnerability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Assessment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Penetration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(VAPT)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cybersecurity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used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identify,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evaluate,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validate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weaknesses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networks,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applications.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3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u="sng" sz="14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Tools</a:t>
            </a:r>
            <a:r>
              <a:rPr dirty="0" u="sng" sz="1400" spc="-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used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Font typeface="Symbol"/>
              <a:buChar char=""/>
            </a:pP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SzPct val="74074"/>
              <a:buFont typeface="Symbol"/>
              <a:buChar char=""/>
              <a:tabLst>
                <a:tab pos="240665" algn="l"/>
              </a:tabLst>
            </a:pPr>
            <a:r>
              <a:rPr dirty="0" sz="1350" spc="-20" b="1">
                <a:latin typeface="Calibri"/>
                <a:cs typeface="Calibri"/>
              </a:rPr>
              <a:t>DVWA</a:t>
            </a:r>
            <a:endParaRPr sz="1350">
              <a:latin typeface="Calibri"/>
              <a:cs typeface="Calibri"/>
            </a:endParaRPr>
          </a:p>
          <a:p>
            <a:pPr marL="240665" marR="88900">
              <a:lnSpc>
                <a:spcPct val="101699"/>
              </a:lnSpc>
              <a:spcBef>
                <a:spcPts val="5"/>
              </a:spcBef>
            </a:pPr>
            <a:r>
              <a:rPr dirty="0" sz="1200">
                <a:latin typeface="Calibri"/>
                <a:cs typeface="Calibri"/>
              </a:rPr>
              <a:t>Damn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Vulnerable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intentionally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insecure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used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learning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testing.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SzPct val="74074"/>
              <a:buFont typeface="Symbol"/>
              <a:buChar char=""/>
              <a:tabLst>
                <a:tab pos="240665" algn="l"/>
              </a:tabLst>
            </a:pPr>
            <a:r>
              <a:rPr dirty="0" sz="1350" spc="-10" b="1">
                <a:latin typeface="Calibri"/>
                <a:cs typeface="Calibri"/>
              </a:rPr>
              <a:t>XAMPP</a:t>
            </a:r>
            <a:endParaRPr sz="1350">
              <a:latin typeface="Calibri"/>
              <a:cs typeface="Calibri"/>
            </a:endParaRPr>
          </a:p>
          <a:p>
            <a:pPr marL="240665" marR="431165">
              <a:lnSpc>
                <a:spcPct val="101699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XAMPP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development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environment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components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as </a:t>
            </a:r>
            <a:r>
              <a:rPr dirty="0" sz="1200">
                <a:latin typeface="Calibri"/>
                <a:cs typeface="Calibri"/>
              </a:rPr>
              <a:t>Apache,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MariaDB,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PHP,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Perl.</a:t>
            </a:r>
            <a:endParaRPr sz="1200">
              <a:latin typeface="Calibri"/>
              <a:cs typeface="Calibri"/>
            </a:endParaRPr>
          </a:p>
          <a:p>
            <a:pPr marL="240665" marR="5080">
              <a:lnSpc>
                <a:spcPct val="101699"/>
              </a:lnSpc>
            </a:pPr>
            <a:r>
              <a:rPr dirty="0" sz="1200">
                <a:latin typeface="Calibri"/>
                <a:cs typeface="Calibri"/>
              </a:rPr>
              <a:t>Apache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executes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 </a:t>
            </a:r>
            <a:r>
              <a:rPr dirty="0" sz="1200">
                <a:latin typeface="Calibri"/>
                <a:cs typeface="Calibri"/>
              </a:rPr>
              <a:t>stores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SzPct val="74074"/>
              <a:buFont typeface="Symbol"/>
              <a:buChar char=""/>
              <a:tabLst>
                <a:tab pos="240665" algn="l"/>
              </a:tabLst>
            </a:pPr>
            <a:r>
              <a:rPr dirty="0" sz="1350" b="1">
                <a:latin typeface="Calibri"/>
                <a:cs typeface="Calibri"/>
              </a:rPr>
              <a:t>Burp</a:t>
            </a:r>
            <a:r>
              <a:rPr dirty="0" sz="1350" spc="-35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Suite</a:t>
            </a:r>
            <a:r>
              <a:rPr dirty="0" sz="1350" spc="-35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Community</a:t>
            </a:r>
            <a:r>
              <a:rPr dirty="0" sz="1350" spc="-25" b="1"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Edition</a:t>
            </a:r>
            <a:endParaRPr sz="1350">
              <a:latin typeface="Calibri"/>
              <a:cs typeface="Calibri"/>
            </a:endParaRPr>
          </a:p>
          <a:p>
            <a:pPr marL="240665" marR="153035">
              <a:lnSpc>
                <a:spcPct val="101699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Burp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Suite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proxy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functionality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tester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inspect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HTTP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requests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browser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web </a:t>
            </a:r>
            <a:r>
              <a:rPr dirty="0" sz="1200" spc="-10">
                <a:latin typeface="Calibri"/>
                <a:cs typeface="Calibri"/>
              </a:rPr>
              <a:t>application.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SzPct val="74074"/>
              <a:buFont typeface="Symbol"/>
              <a:buChar char=""/>
              <a:tabLst>
                <a:tab pos="240665" algn="l"/>
              </a:tabLst>
            </a:pPr>
            <a:r>
              <a:rPr dirty="0" sz="1350" b="1">
                <a:latin typeface="Calibri"/>
                <a:cs typeface="Calibri"/>
              </a:rPr>
              <a:t>OWASP</a:t>
            </a:r>
            <a:r>
              <a:rPr dirty="0" sz="1350" spc="-5" b="1">
                <a:latin typeface="Calibri"/>
                <a:cs typeface="Calibri"/>
              </a:rPr>
              <a:t> </a:t>
            </a:r>
            <a:r>
              <a:rPr dirty="0" sz="1350" spc="-25" b="1">
                <a:latin typeface="Calibri"/>
                <a:cs typeface="Calibri"/>
              </a:rPr>
              <a:t>ZAP</a:t>
            </a:r>
            <a:endParaRPr sz="1350">
              <a:latin typeface="Calibri"/>
              <a:cs typeface="Calibri"/>
            </a:endParaRPr>
          </a:p>
          <a:p>
            <a:pPr marL="240665" marR="222250">
              <a:lnSpc>
                <a:spcPct val="101699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OWASP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Zed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Attack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Proxy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(ZAP)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open-</a:t>
            </a:r>
            <a:r>
              <a:rPr dirty="0" sz="1200">
                <a:latin typeface="Calibri"/>
                <a:cs typeface="Calibri"/>
              </a:rPr>
              <a:t>source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web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testing </a:t>
            </a:r>
            <a:r>
              <a:rPr dirty="0" sz="1200" spc="-20">
                <a:latin typeface="Calibri"/>
                <a:cs typeface="Calibri"/>
              </a:rPr>
              <a:t>tool.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SzPct val="74074"/>
              <a:buFont typeface="Symbol"/>
              <a:buChar char=""/>
              <a:tabLst>
                <a:tab pos="240665" algn="l"/>
              </a:tabLst>
            </a:pPr>
            <a:r>
              <a:rPr dirty="0" sz="1350" b="1">
                <a:latin typeface="Calibri"/>
                <a:cs typeface="Calibri"/>
              </a:rPr>
              <a:t>Kali</a:t>
            </a:r>
            <a:r>
              <a:rPr dirty="0" sz="1350" spc="-25" b="1"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Linux</a:t>
            </a:r>
            <a:endParaRPr sz="1350">
              <a:latin typeface="Calibri"/>
              <a:cs typeface="Calibri"/>
            </a:endParaRPr>
          </a:p>
          <a:p>
            <a:pPr marL="240665" marR="36830">
              <a:lnSpc>
                <a:spcPct val="101699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Kali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Linux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Linux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distribution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designed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penetration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security assessments.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platform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OWASP</a:t>
            </a:r>
            <a:r>
              <a:rPr dirty="0" sz="1200" spc="-20">
                <a:latin typeface="Calibri"/>
                <a:cs typeface="Calibri"/>
              </a:rPr>
              <a:t> ZAP.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7974329"/>
            <a:ext cx="13677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u="sng" sz="14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Testing</a:t>
            </a:r>
            <a:r>
              <a:rPr dirty="0" u="sng" sz="1400" spc="-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1853" y="8464041"/>
            <a:ext cx="1388745" cy="218440"/>
          </a:xfrm>
          <a:prstGeom prst="rect">
            <a:avLst/>
          </a:prstGeom>
          <a:solidFill>
            <a:srgbClr val="00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25"/>
              </a:lnSpc>
            </a:pPr>
            <a:r>
              <a:rPr dirty="0" sz="1400">
                <a:latin typeface="Calibri"/>
                <a:cs typeface="Calibri"/>
              </a:rPr>
              <a:t>SQL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Injection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Test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-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604" y="8661653"/>
            <a:ext cx="3773804" cy="1026794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229"/>
              </a:spcBef>
            </a:pPr>
            <a:r>
              <a:rPr dirty="0" sz="1200" spc="-20">
                <a:latin typeface="Calibri"/>
                <a:cs typeface="Calibri"/>
              </a:rPr>
              <a:t>Testing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Procedure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DVWA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241935" algn="l"/>
              </a:tabLst>
            </a:pPr>
            <a:r>
              <a:rPr dirty="0" sz="1200" spc="-10">
                <a:latin typeface="Calibri"/>
                <a:cs typeface="Calibri"/>
              </a:rPr>
              <a:t>Navigate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Injection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module.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expected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result.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controlled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Injection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input.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875536"/>
            <a:ext cx="3761104" cy="82931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241935" indent="-229235">
              <a:lnSpc>
                <a:spcPct val="100000"/>
              </a:lnSpc>
              <a:spcBef>
                <a:spcPts val="245"/>
              </a:spcBef>
              <a:buAutoNum type="arabicPeriod" startAt="5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Submit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input.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45"/>
              </a:spcBef>
              <a:buAutoNum type="arabicPeriod" startAt="5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Compare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response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35"/>
              </a:spcBef>
              <a:buAutoNum type="arabicPeriod" startAt="5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Capture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relevant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request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response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Burp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Suite.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40"/>
              </a:spcBef>
              <a:buAutoNum type="arabicPeriod" startAt="5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Record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actual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evidence.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1853" y="1952497"/>
            <a:ext cx="1922145" cy="218440"/>
          </a:xfrm>
          <a:prstGeom prst="rect">
            <a:avLst/>
          </a:prstGeom>
          <a:solidFill>
            <a:srgbClr val="00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25"/>
              </a:lnSpc>
            </a:pPr>
            <a:r>
              <a:rPr dirty="0" sz="1400" spc="-10">
                <a:latin typeface="Calibri"/>
                <a:cs typeface="Calibri"/>
              </a:rPr>
              <a:t>Cross-</a:t>
            </a:r>
            <a:r>
              <a:rPr dirty="0" sz="1400">
                <a:latin typeface="Calibri"/>
                <a:cs typeface="Calibri"/>
              </a:rPr>
              <a:t>Site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Scripting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Testing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604" y="2147062"/>
            <a:ext cx="5084445" cy="183324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240"/>
              </a:spcBef>
            </a:pPr>
            <a:r>
              <a:rPr dirty="0" sz="1200" spc="-20">
                <a:latin typeface="Calibri"/>
                <a:cs typeface="Calibri"/>
              </a:rPr>
              <a:t>Testing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Procedure: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XSS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module.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Submit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first.</a:t>
            </a:r>
            <a:endParaRPr sz="1200">
              <a:latin typeface="Calibri"/>
              <a:cs typeface="Calibri"/>
            </a:endParaRPr>
          </a:p>
          <a:p>
            <a:pPr marL="240665" marR="5080" indent="-228600">
              <a:lnSpc>
                <a:spcPct val="109200"/>
              </a:lnSpc>
              <a:spcBef>
                <a:spcPts val="10"/>
              </a:spcBef>
              <a:buAutoNum type="arabicPeriod"/>
              <a:tabLst>
                <a:tab pos="240665" algn="l"/>
              </a:tabLst>
            </a:pP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authorized </a:t>
            </a:r>
            <a:r>
              <a:rPr dirty="0" sz="1200">
                <a:latin typeface="Calibri"/>
                <a:cs typeface="Calibri"/>
              </a:rPr>
              <a:t>lab,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harmless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proof-</a:t>
            </a:r>
            <a:r>
              <a:rPr dirty="0" sz="1200" spc="-25">
                <a:latin typeface="Calibri"/>
                <a:cs typeface="Calibri"/>
              </a:rPr>
              <a:t>of-</a:t>
            </a:r>
            <a:r>
              <a:rPr dirty="0" sz="1200">
                <a:latin typeface="Calibri"/>
                <a:cs typeface="Calibri"/>
              </a:rPr>
              <a:t>concept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module </a:t>
            </a:r>
            <a:r>
              <a:rPr dirty="0" sz="1200">
                <a:latin typeface="Calibri"/>
                <a:cs typeface="Calibri"/>
              </a:rPr>
              <a:t>permits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it.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Submit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input.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Reload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revisit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page.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Observe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whether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persists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executes.</a:t>
            </a:r>
            <a:endParaRPr sz="12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241935" algn="l"/>
              </a:tabLst>
            </a:pPr>
            <a:r>
              <a:rPr dirty="0" sz="1200">
                <a:latin typeface="Calibri"/>
                <a:cs typeface="Calibri"/>
              </a:rPr>
              <a:t>Capture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submission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subsequent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page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1853" y="4228210"/>
            <a:ext cx="2101215" cy="218440"/>
          </a:xfrm>
          <a:prstGeom prst="rect">
            <a:avLst/>
          </a:prstGeom>
          <a:solidFill>
            <a:srgbClr val="00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25"/>
              </a:lnSpc>
            </a:pPr>
            <a:r>
              <a:rPr dirty="0" sz="1400" spc="-10">
                <a:latin typeface="Calibri"/>
                <a:cs typeface="Calibri"/>
              </a:rPr>
              <a:t>OWASP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ZAP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Automated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Scan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4422774"/>
            <a:ext cx="4038600" cy="478091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469265">
              <a:lnSpc>
                <a:spcPct val="100000"/>
              </a:lnSpc>
              <a:spcBef>
                <a:spcPts val="240"/>
              </a:spcBef>
            </a:pPr>
            <a:r>
              <a:rPr dirty="0" sz="1200" spc="-20">
                <a:latin typeface="Calibri"/>
                <a:cs typeface="Calibri"/>
              </a:rPr>
              <a:t>Testing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Procedure: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Launch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OWASP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ZAP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Kali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Linux.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Select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Start.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Open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Automated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Scan.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Enter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DVWA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URL.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Click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Attack.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Allow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ZAP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discover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accessible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pages.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Review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Alerts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tab.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Inspect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alert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evidence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risk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levels.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Export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HTML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format.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Font typeface="Calibri"/>
              <a:buAutoNum type="arabicPeriod"/>
            </a:pP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Findings</a:t>
            </a:r>
            <a:r>
              <a:rPr dirty="0" u="sng" sz="14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&amp;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Risk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Levels</a:t>
            </a:r>
            <a:endParaRPr sz="1400">
              <a:latin typeface="Calibri"/>
              <a:cs typeface="Calibri"/>
            </a:endParaRPr>
          </a:p>
          <a:p>
            <a:pPr marL="12700" marR="1695450">
              <a:lnSpc>
                <a:spcPct val="110000"/>
              </a:lnSpc>
              <a:spcBef>
                <a:spcPts val="819"/>
              </a:spcBef>
            </a:pP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alerts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30">
                <a:latin typeface="Calibri"/>
                <a:cs typeface="Calibri"/>
              </a:rPr>
              <a:t> ZAP. </a:t>
            </a:r>
            <a:r>
              <a:rPr dirty="0" sz="1200">
                <a:latin typeface="Calibri"/>
                <a:cs typeface="Calibri"/>
              </a:rPr>
              <a:t>Risk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level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medium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low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buFont typeface="Symbol"/>
              <a:buChar char=""/>
              <a:tabLst>
                <a:tab pos="469265" algn="l"/>
              </a:tabLst>
            </a:pPr>
            <a:r>
              <a:rPr dirty="0" sz="1200" spc="-10" b="1">
                <a:latin typeface="Calibri"/>
                <a:cs typeface="Calibri"/>
              </a:rPr>
              <a:t>Mitigation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methods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50">
                <a:latin typeface="Calibri"/>
                <a:cs typeface="Calibri"/>
              </a:rPr>
              <a:t>SQL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Injection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Mitigation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200">
                <a:latin typeface="Calibri"/>
                <a:cs typeface="Calibri"/>
              </a:rPr>
              <a:t>Recommended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controls: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1425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prepared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statements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parameterized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queries.</a:t>
            </a:r>
            <a:endParaRPr sz="1200">
              <a:latin typeface="Calibri"/>
              <a:cs typeface="Calibri"/>
            </a:endParaRPr>
          </a:p>
          <a:p>
            <a:pPr marL="469900" indent="-228600">
              <a:lnSpc>
                <a:spcPct val="100000"/>
              </a:lnSpc>
              <a:spcBef>
                <a:spcPts val="145"/>
              </a:spcBef>
              <a:buFont typeface="Calibri"/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Avoid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concatenating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untrusted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commands.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5536"/>
            <a:ext cx="2988945" cy="209296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200">
                <a:latin typeface="Calibri"/>
                <a:cs typeface="Calibri"/>
              </a:rPr>
              <a:t>XSS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Mitigation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200">
                <a:latin typeface="Calibri"/>
                <a:cs typeface="Calibri"/>
              </a:rPr>
              <a:t>Recommended</a:t>
            </a:r>
            <a:r>
              <a:rPr dirty="0" sz="1200" spc="-7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controls: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context-</a:t>
            </a:r>
            <a:r>
              <a:rPr dirty="0" sz="1200">
                <a:latin typeface="Calibri"/>
                <a:cs typeface="Calibri"/>
              </a:rPr>
              <a:t>aware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10">
                <a:latin typeface="Calibri"/>
                <a:cs typeface="Calibri"/>
              </a:rPr>
              <a:t> encoding.</a:t>
            </a:r>
            <a:endParaRPr sz="1200">
              <a:latin typeface="Calibri"/>
              <a:cs typeface="Calibri"/>
            </a:endParaRPr>
          </a:p>
          <a:p>
            <a:pPr marL="470534" indent="-22923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safe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templating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methods.</a:t>
            </a:r>
            <a:endParaRPr sz="1200">
              <a:latin typeface="Calibri"/>
              <a:cs typeface="Calibri"/>
            </a:endParaRPr>
          </a:p>
          <a:p>
            <a:pPr marL="12700" marR="966469">
              <a:lnSpc>
                <a:spcPct val="101699"/>
              </a:lnSpc>
              <a:spcBef>
                <a:spcPts val="1405"/>
              </a:spcBef>
            </a:pPr>
            <a:r>
              <a:rPr dirty="0" sz="1200" spc="-10">
                <a:latin typeface="Calibri"/>
                <a:cs typeface="Calibri"/>
              </a:rPr>
              <a:t>Authentication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Mitigation Recommended </a:t>
            </a:r>
            <a:r>
              <a:rPr dirty="0" sz="1200">
                <a:latin typeface="Calibri"/>
                <a:cs typeface="Calibri"/>
              </a:rPr>
              <a:t>controls</a:t>
            </a:r>
            <a:r>
              <a:rPr dirty="0" sz="1200" spc="-10">
                <a:latin typeface="Calibri"/>
                <a:cs typeface="Calibri"/>
              </a:rPr>
              <a:t> include: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142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Secure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password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hashing.</a:t>
            </a:r>
            <a:endParaRPr sz="12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25"/>
              </a:spcBef>
              <a:buSzPct val="83333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Appropriate</a:t>
            </a:r>
            <a:r>
              <a:rPr dirty="0" sz="1200" spc="-10">
                <a:latin typeface="Calibri"/>
                <a:cs typeface="Calibri"/>
              </a:rPr>
              <a:t> multi-</a:t>
            </a:r>
            <a:r>
              <a:rPr dirty="0" sz="1200">
                <a:latin typeface="Calibri"/>
                <a:cs typeface="Calibri"/>
              </a:rPr>
              <a:t>factor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authentication.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704" y="3696715"/>
            <a:ext cx="5538470" cy="0"/>
          </a:xfrm>
          <a:custGeom>
            <a:avLst/>
            <a:gdLst/>
            <a:ahLst/>
            <a:cxnLst/>
            <a:rect l="l" t="t" r="r" b="b"/>
            <a:pathLst>
              <a:path w="5538470" h="0">
                <a:moveTo>
                  <a:pt x="0" y="0"/>
                </a:moveTo>
                <a:lnTo>
                  <a:pt x="5538216" y="0"/>
                </a:lnTo>
              </a:path>
            </a:pathLst>
          </a:custGeom>
          <a:ln w="138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terms:created xsi:type="dcterms:W3CDTF">2026-10-14T17:13:55Z</dcterms:created>
  <dcterms:modified xsi:type="dcterms:W3CDTF">2026-10-14T17:13:55Z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2026-10-14T00:00:00Z</vt:filetime>
  </property>
  <property fmtid="{D5CDD505-2E9C-101B-9397-08002B2CF9AE}" pid="4" name="Creator">
    <vt:lpwstr>Microsoft® Word 2021</vt:lpwstr>
  </property>
  <property fmtid="{D5CDD505-2E9C-101B-9397-08002B2CF9AE}" pid="5" name="LastSaved">
    <vt:filetime>2026-10-14T00:00:00Z</vt:filetime>
  </property>
  <property fmtid="{D5CDD505-2E9C-101B-9397-08002B2CF9AE}" pid="6" name="Producer">
    <vt:lpwstr>Microsoft® Word 2021</vt:lpwstr>
  </property>
</Properties>
</file>